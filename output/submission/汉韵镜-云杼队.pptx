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eeea47ef3342e9" /><Relationship Type="http://schemas.openxmlformats.org/officeDocument/2006/relationships/extended-properties" Target="/docProps/app.xml" Id="R6025cb35703e453a" /><Relationship Type="http://schemas.openxmlformats.org/officeDocument/2006/relationships/officeDocument" Target="/ppt/presentation.xml" Id="R0b118447c26348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5a75e97fbc4081"/>
  </p:sldMasterIdLst>
  <p:notesMasterIdLst>
    <p:notesMasterId xmlns:r="http://schemas.openxmlformats.org/officeDocument/2006/relationships" r:id="R666ab2a49ffe4115"/>
  </p:notesMasterIdLst>
  <p:sldIdLst>
    <p:sldId xmlns:r="http://schemas.openxmlformats.org/officeDocument/2006/relationships" id="256" r:id="R530c429e88c24e2a"/>
    <p:sldId xmlns:r="http://schemas.openxmlformats.org/officeDocument/2006/relationships" id="257" r:id="R580652312dc44cad"/>
    <p:sldId xmlns:r="http://schemas.openxmlformats.org/officeDocument/2006/relationships" id="258" r:id="Rad357274974d4139"/>
    <p:sldId xmlns:r="http://schemas.openxmlformats.org/officeDocument/2006/relationships" id="259" r:id="R8ab4b828acaa4223"/>
    <p:sldId xmlns:r="http://schemas.openxmlformats.org/officeDocument/2006/relationships" id="260" r:id="R99a13c0fb3564e37"/>
    <p:sldId xmlns:r="http://schemas.openxmlformats.org/officeDocument/2006/relationships" id="261" r:id="Rc084fe94d03d4b74"/>
    <p:sldId xmlns:r="http://schemas.openxmlformats.org/officeDocument/2006/relationships" id="262" r:id="R1f2c959be3d64601"/>
    <p:sldId xmlns:r="http://schemas.openxmlformats.org/officeDocument/2006/relationships" id="263" r:id="Rfa400d4cc2ac4c9a"/>
    <p:sldId xmlns:r="http://schemas.openxmlformats.org/officeDocument/2006/relationships" id="264" r:id="R62dfdc976cf44f42"/>
    <p:sldId xmlns:r="http://schemas.openxmlformats.org/officeDocument/2006/relationships" id="265" r:id="R905c99b291bc45f4"/>
    <p:sldId xmlns:r="http://schemas.openxmlformats.org/officeDocument/2006/relationships" id="266" r:id="Raa2108898ce041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ab1439794d4f28" /><Relationship Type="http://schemas.openxmlformats.org/officeDocument/2006/relationships/slideMaster" Target="/ppt/slideMasters/slideMaster1.xml" Id="Re75a75e97fbc4081" /><Relationship Type="http://schemas.openxmlformats.org/officeDocument/2006/relationships/notesMaster" Target="/ppt/notesMasters/notesMaster1.xml" Id="R666ab2a49ffe4115" /><Relationship Type="http://schemas.openxmlformats.org/officeDocument/2006/relationships/presProps" Target="/ppt/presProps.xml" Id="R15cb34e2222e4e30" /><Relationship Type="http://schemas.openxmlformats.org/officeDocument/2006/relationships/tableStyles" Target="/ppt/tableStyles.xml" Id="R83cad0ebee064589" /><Relationship Type="http://schemas.openxmlformats.org/officeDocument/2006/relationships/slide" Target="/ppt/slides/slide1.xml" Id="R530c429e88c24e2a" /><Relationship Type="http://schemas.openxmlformats.org/officeDocument/2006/relationships/slide" Target="/ppt/slides/slide2.xml" Id="R580652312dc44cad" /><Relationship Type="http://schemas.openxmlformats.org/officeDocument/2006/relationships/slide" Target="/ppt/slides/slide3.xml" Id="Rad357274974d4139" /><Relationship Type="http://schemas.openxmlformats.org/officeDocument/2006/relationships/slide" Target="/ppt/slides/slide4.xml" Id="R8ab4b828acaa4223" /><Relationship Type="http://schemas.openxmlformats.org/officeDocument/2006/relationships/slide" Target="/ppt/slides/slide5.xml" Id="R99a13c0fb3564e37" /><Relationship Type="http://schemas.openxmlformats.org/officeDocument/2006/relationships/slide" Target="/ppt/slides/slide6.xml" Id="Rc084fe94d03d4b74" /><Relationship Type="http://schemas.openxmlformats.org/officeDocument/2006/relationships/slide" Target="/ppt/slides/slide7.xml" Id="R1f2c959be3d64601" /><Relationship Type="http://schemas.openxmlformats.org/officeDocument/2006/relationships/slide" Target="/ppt/slides/slide8.xml" Id="Rfa400d4cc2ac4c9a" /><Relationship Type="http://schemas.openxmlformats.org/officeDocument/2006/relationships/slide" Target="/ppt/slides/slide9.xml" Id="R62dfdc976cf44f42" /><Relationship Type="http://schemas.openxmlformats.org/officeDocument/2006/relationships/slide" Target="/ppt/slides/slide10.xml" Id="R905c99b291bc45f4" /><Relationship Type="http://schemas.openxmlformats.org/officeDocument/2006/relationships/slide" Target="/ppt/slides/slide11.xml" Id="Raa2108898ce041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b9299600844f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dcbcf310a4d7e" /><Relationship Type="http://schemas.openxmlformats.org/officeDocument/2006/relationships/notesMaster" Target="/ppt/notesMasters/notesMaster1.xml" Id="Rf81b237c15924a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d6e974248749ec" /><Relationship Type="http://schemas.openxmlformats.org/officeDocument/2006/relationships/notesMaster" Target="/ppt/notesMasters/notesMaster1.xml" Id="R59a382b3c2bb41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3d24a41584dce" /><Relationship Type="http://schemas.openxmlformats.org/officeDocument/2006/relationships/notesMaster" Target="/ppt/notesMasters/notesMaster1.xml" Id="Re7e4ab5d8a0440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bd1ed434a84c64" /><Relationship Type="http://schemas.openxmlformats.org/officeDocument/2006/relationships/notesMaster" Target="/ppt/notesMasters/notesMaster1.xml" Id="R275f756cb06b46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de8a84803430f" /><Relationship Type="http://schemas.openxmlformats.org/officeDocument/2006/relationships/notesMaster" Target="/ppt/notesMasters/notesMaster1.xml" Id="R3343beec734643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c7f3c2dcf5406c" /><Relationship Type="http://schemas.openxmlformats.org/officeDocument/2006/relationships/notesMaster" Target="/ppt/notesMasters/notesMaster1.xml" Id="Rcf799245951b4b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94a662882b4d50" /><Relationship Type="http://schemas.openxmlformats.org/officeDocument/2006/relationships/notesMaster" Target="/ppt/notesMasters/notesMaster1.xml" Id="R1fb0699a8c554b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9d16e1e24144ea" /><Relationship Type="http://schemas.openxmlformats.org/officeDocument/2006/relationships/notesMaster" Target="/ppt/notesMasters/notesMaster1.xml" Id="R31e0063a096042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a6a67a7a1e4af7" /><Relationship Type="http://schemas.openxmlformats.org/officeDocument/2006/relationships/notesMaster" Target="/ppt/notesMasters/notesMaster1.xml" Id="R92a92c136f9e4b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930c51fdaf451d" /><Relationship Type="http://schemas.openxmlformats.org/officeDocument/2006/relationships/notesMaster" Target="/ppt/notesMasters/notesMaster1.xml" Id="Re274c1f47fab4a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3b347197a44b95" /><Relationship Type="http://schemas.openxmlformats.org/officeDocument/2006/relationships/notesMaster" Target="/ppt/notesMasters/notesMaster1.xml" Id="R2af69dbf6382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大家好，我们是云杼队。我们的项目叫汉韵镜，面向汉服零售门店的导购与售前客服，把顾客选款、AI 试衣和商家跟进放进同一套系统。接下来用五分钟介绍产品页面与技术实现。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来源与说明：README.md、PROJECT_DESCRIPTION.md。右侧为项目 AI 生成的服饰设计素材，非实物或文物照片。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选择汉服零售的导购与售前客服场景。顾客往往先描述去哪里、喜欢哪个朝代，再问预算内有没有自己的尺码。导购需要反复解释形制、核对规格，并回答史料和试穿问题。汉韵镜把这些步骤组织成可追踪的接待流程。目前这是可运行原型，合作门店和实际节省的时间仍需试点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来源与说明：docs/competition-readiness.md。以下为需求假设，尚无合作企业访谈或经营效果数据。右侧裁自用户提供的试衣页面截图。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顾客可以按汉、唐、宋、元、明浏览商品。现有目录按每个朝代四种不同形制组织展示，并为衣裳关联历史资料。例如页面会说明汉代曲裾与直裾的实物依据，以及资料的来源。这里也区分了历史文物与现代设计参考，避免把 AI 商品图说成文物复原。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来源与说明：frontend/src/views/CultureView.vue、DynastyReferences.vue、docs/product-history-mapping.md。右图裁自 target/culture-final.png，左图为现有 p11 商品设计图。页面图片取自项目既有真实截图，局部界面与当前版本可能有差异；截图中的商品数量、价格和库存为截图当时状态，不作为当前库存或经营指标。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在问衣页面，用户用自然语言描述目的地、朝代和是否第一次穿，也可以给出预算和规格。在线模型使用真实商品目录与史料生成候选。后端检查原文证据和商品 ID，再核对 SKU 的价格、库存、尺码、颜色及数量。顾客选择规格并确认后，系统才加入衣囊；重复确认不会重复加购。没有合适的款式时，系统支持生成商家待办。右图是已有问衣结果截图，当前版本增加了更完整的规格与确认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来源与说明：OnlineAgent.java、RetailRules.java、RetailWorkflow.java、RetailSelection.vue。图片为 target/flow-guide-success.png 的结果区域。页面图片取自项目既有真实截图，局部界面与当前版本可能有差异；截图中的商品数量、价格和库存为截图当时状态，不作为当前库存或经营指标。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试衣镜接收用户授权的人像和衣服参考图，调用火山引擎图片换装 V2。右侧是已有成功调用的前后对比，人物为虚构成年 AI 示例。用户可以保存本次换装 PNG。系统还接入腾讯混元 3D 的提交与查询任务，并用 Three.js 展示 GLB，支持旋转和下载。目前真实 3D 云端效果尚待验收，单张照片没有背面信息，生成的侧后方属于模型推测。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来源与说明：docs/volcengine-tryon.md、docs/hunyuan-3d.md、SaveTryOnImage.vue、TryOnOrbit.vue、OrbitViewer.vue。图片裁自 target/flow-final-example.png，历史真实换装结果，非现场生成。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后台在独立的 5174 端口运行，游客端不显示管理入口。商家可以维护商品图片和史料，按颜色与尺码设置价格库存，并控制上架状态。评论即时公开，后台负责商家回复。后台还处理订单发货登记和 AI 接待待办，记录咨询依据与处理结果。删除仅用于草稿和已下架商品，并且需要再次确认。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来源与说明：frontend/admin/AdminView.vue、RetailHistory.vue、docs/database-admin.md。截图裁自用户附件 codex-clipboard-222c8665-7464-485d-a474-d3aada5228bb.png。页面图片取自项目既有真实截图，局部界面与当前版本可能有差异；截图中的商品数量、价格和库存为截图当时状态，不作为当前库存或经营指标。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前端由 Vue 3、TypeScript 和 Vite 实现，商城与后台各自独立启动。路由和状态由 Vue Router 与 Pinia 管理，Axios 请求后端。后端使用 Java 17、Spring Boot 和 Spring JDBC，LangChain4j 负责与聊天模型的工具协议交互。数据层将账号、商品、图片、SKU、史料、订单和接待记录分表关联，默认 H2 文件数据库，也支持 MySQL。本机已使用 MySQL 持久化。密钥只由服务端读取，不进入浏览器或 GitHub。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来源与说明：pom.xml、frontend/package.json、src/main/resources/db/schema.sql、docs/database-admin.md、PROJECT_DESCRIPTION.md。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系统运行时使用三类外部能力。导购通过 OpenAI 兼容的 Chat Completions 接口，当前配置模型 ID 为 gpt-6.1-sol，走第三方网关，具体能力以服务商为准。火山图片换装使用 CVSubmitTask 提交，CVGetResult 查询，并进行 AK/SK 签名。腾讯混元 3D Pro 使用 3.0 模型，通过提交任务、轮询任务获取 GLB，以 TC3 签名鉴权。gpt-image-2 只用于开发阶段生成静态商品图，不是网站运行时的换装模型。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来源与说明：application.properties、OnlineAgent.java、VolcengineTryOnRenderer.java、TencentHunyuanOrbitRenderer.java、docs/volcengine-tryon.md、docs/hunyuan-3d.md。第三方网关默认 api.openai-next.com/v1，不是 OpenAI 官方端点。赞助商身份未经主办方确认。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现场可以先输入第一次穿、汉制、预算五百元、M 码，检查候选依据与规格，再确认加购。接着把预算改成一元或指定不存在的尺码，检验无匹配和商家协助。已有后端自动化测试通过，近期同一句需求连续三次真实模型调用均完成，耗时约十一秒。这里只是小样本验证，不代表所有用户成功率。支付仍为模拟流程，展示加购时不把它当作真实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来源与说明：最新已完成 Maven 测试记录：173 项通过。在线构造评测 output/evaluation/retail-1791027749458.json；稳定性记录 .local/agent-stability-validation.json：2026-10-04，10.9/11.2/10.9 秒，3 次 DONE。测试内含受控协议响应，不替代云服务视觉验收。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我是云杼队的孙石祥，负责后端、数据库与 AI 接口。陈博涛负责前端、管理后台、行业调研、测试与资料。下一步我们希望与汉服门店开展小规模试点，用授权咨询比较人工和系统的处理时间及约束正确率，并完成混元 3D 的真实效果验收。谢谢大家。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来源与说明：README.md 团队信息，docs/competition-readiness.md。尚无合作门店、企业基线和经营数据。当前仓库缺少早期完整提交历史，项目已有代码及赛期原创资格需按主办方规则核验，不声称四天从零原创证据齐全。演讲者如非孙石祥，请将首句改为第三人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感谢观看。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d97a72e864f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f68c55f0248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669720a9047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91f12ff1e4e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297acf3d644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a9b99ac1743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2BA49C-1E55-4EB6-B2E0-4D3D2E57B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84BC8C-7AAE-4A3C-BB21-0553C9C554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158F95-0A3E-403A-B7AC-1CF3BB94A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EB9562-E93E-47CA-B3A8-66ACB8118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BB3D62-5DC1-4C5D-81FC-00A840EF8A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EFCE2-C6CD-4AB3-810E-25C5994725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3B7DA-1BBE-437E-A543-82EFFCE56B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83795D-C3F5-417F-80D5-C0A2623EBB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F2CFD9-0A48-4FF2-81BD-33DEF6FFF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66D676-5DFB-4799-B7CE-0569932F5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5739678a164564" /><Relationship Type="http://schemas.openxmlformats.org/officeDocument/2006/relationships/slideLayout" Target="/ppt/slideLayouts/slideLayout1.xml" Id="Rf3bf4778d0bb490e" /><Relationship Type="http://schemas.openxmlformats.org/officeDocument/2006/relationships/slideLayout" Target="/ppt/slideLayouts/slideLayout2.xml" Id="R14db869b5d9542ba" /><Relationship Type="http://schemas.openxmlformats.org/officeDocument/2006/relationships/slideLayout" Target="/ppt/slideLayouts/slideLayout3.xml" Id="R25a59d4cc46e425c" /><Relationship Type="http://schemas.openxmlformats.org/officeDocument/2006/relationships/slideLayout" Target="/ppt/slideLayouts/slideLayout4.xml" Id="Ra3f8129e1d2a4b60" /><Relationship Type="http://schemas.openxmlformats.org/officeDocument/2006/relationships/slideLayout" Target="/ppt/slideLayouts/slideLayout5.xml" Id="R5cb881613f734c69" /><Relationship Type="http://schemas.openxmlformats.org/officeDocument/2006/relationships/slideLayout" Target="/ppt/slideLayouts/slideLayout6.xml" Id="R71a90eb7e16b44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bf4778d0bb490e"/>
    <p:sldLayoutId xmlns:r="http://schemas.openxmlformats.org/officeDocument/2006/relationships" id="2147483650" r:id="R14db869b5d9542ba"/>
    <p:sldLayoutId xmlns:r="http://schemas.openxmlformats.org/officeDocument/2006/relationships" id="2147483651" r:id="R25a59d4cc46e425c"/>
    <p:sldLayoutId xmlns:r="http://schemas.openxmlformats.org/officeDocument/2006/relationships" id="2147483652" r:id="Ra3f8129e1d2a4b60"/>
    <p:sldLayoutId xmlns:r="http://schemas.openxmlformats.org/officeDocument/2006/relationships" id="2147483653" r:id="R5cb881613f734c69"/>
    <p:sldLayoutId xmlns:r="http://schemas.openxmlformats.org/officeDocument/2006/relationships" id="2147483654" r:id="R71a90eb7e16b44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128ee1cbe4283" /><Relationship Type="http://schemas.openxmlformats.org/officeDocument/2006/relationships/image" Target="/ppt/media/image.bin" Id="Rb9bd4f0beb4a4a7b" /><Relationship Type="http://schemas.openxmlformats.org/officeDocument/2006/relationships/notesSlide" Target="/ppt/notesSlides/notesSlide1.xml" Id="Rd19d664003a6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2fa5eee7b48e9" /><Relationship Type="http://schemas.openxmlformats.org/officeDocument/2006/relationships/image" Target="/ppt/media/image.png" Id="Rcfc8e5877ee74525" /><Relationship Type="http://schemas.openxmlformats.org/officeDocument/2006/relationships/notesSlide" Target="/ppt/notesSlides/notesSlide2.xml" Id="Rcfdc33ac032c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fde4f255c42da" /><Relationship Type="http://schemas.openxmlformats.org/officeDocument/2006/relationships/image" Target="/ppt/media/image2.bin" Id="R073ef69a061f444d" /><Relationship Type="http://schemas.openxmlformats.org/officeDocument/2006/relationships/image" Target="/ppt/media/image2.png" Id="R69c2a6077d564a45" /><Relationship Type="http://schemas.openxmlformats.org/officeDocument/2006/relationships/notesSlide" Target="/ppt/notesSlides/notesSlide3.xml" Id="R44b98bf5b5b647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22772bbed546f1" /><Relationship Type="http://schemas.openxmlformats.org/officeDocument/2006/relationships/image" Target="/ppt/media/image3.png" Id="R00406682eff3463c" /><Relationship Type="http://schemas.openxmlformats.org/officeDocument/2006/relationships/notesSlide" Target="/ppt/notesSlides/notesSlide4.xml" Id="R5ca27246fd6e44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1d60f8a6f4cb4" /><Relationship Type="http://schemas.openxmlformats.org/officeDocument/2006/relationships/image" Target="/ppt/media/image4.png" Id="R50e70ba57957458d" /><Relationship Type="http://schemas.openxmlformats.org/officeDocument/2006/relationships/notesSlide" Target="/ppt/notesSlides/notesSlide5.xml" Id="R291a27d3980340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406f0fd984679" /><Relationship Type="http://schemas.openxmlformats.org/officeDocument/2006/relationships/image" Target="/ppt/media/image5.png" Id="R63577c8c976b43cf" /><Relationship Type="http://schemas.openxmlformats.org/officeDocument/2006/relationships/notesSlide" Target="/ppt/notesSlides/notesSlide6.xml" Id="R12e9395b1f21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9c2d14d6b4a60" /><Relationship Type="http://schemas.openxmlformats.org/officeDocument/2006/relationships/notesSlide" Target="/ppt/notesSlides/notesSlide7.xml" Id="R1ab06bac500b48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36898a7304a2e" /><Relationship Type="http://schemas.openxmlformats.org/officeDocument/2006/relationships/notesSlide" Target="/ppt/notesSlides/notesSlide8.xml" Id="Rc7dc4329bb2d4e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d449c482345d4" /><Relationship Type="http://schemas.openxmlformats.org/officeDocument/2006/relationships/notesSlide" Target="/ppt/notesSlides/notesSlide9.xml" Id="R2b16ba03f1af4c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2706f6df74ec3" /><Relationship Type="http://schemas.openxmlformats.org/officeDocument/2006/relationships/notesSlide" Target="/ppt/notesSlides/notesSlide10.xml" Id="Ra475c4fa92194f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e8b7401e048ca" /><Relationship Type="http://schemas.openxmlformats.org/officeDocument/2006/relationships/notesSlide" Target="/ppt/notesSlides/notesSlide11.xml" Id="R176b1b64757d4d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F1B3B-2340-48BD-B1A8-A48B5A91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37B41-40B7-4378-9FE5-A2B1C63B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05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汉韵镜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56EFF-6E1B-4049-8618-85BE31A0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汉服零售导购与 AI 试衣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5BEA8-ACB8-4564-9E1E-36346BE6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云杼队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4855C-128E-40A1-A26C-A861B356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62475"/>
            <a:ext cx="4857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孙石祥 · 陈博涛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d4f0beb4a4a7b"/>
          <a:stretch xmlns:a="http://schemas.openxmlformats.org/drawingml/2006/main"/>
        </p:blipFill>
        <p:spPr>
          <a:xfrm xmlns:a="http://schemas.openxmlformats.org/drawingml/2006/main">
            <a:off x="7677150" y="760412"/>
            <a:ext cx="3867150" cy="5156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ACCE6-C228-417B-898F-16D256BC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3246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AI 服饰设计图</a:t>
            </a:r>
          </a:p>
        </p:txBody>
      </p:sp>
    </p:spTree>
    <p:extLst>
      <p:ext uri="{BB962C8B-B14F-4D97-AF65-F5344CB8AC3E}">
        <p14:creationId xmlns:p14="http://schemas.microsoft.com/office/powerpoint/2010/main" val="1550944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764C5-321E-4DDE-99E8-271A0540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汉服门店的售前接待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2D7C9-67AD-450D-8CD1-F6F0D11F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E15B1-3344-4181-8D01-FBC6F0A5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服务部门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B7A59-A537-45E5-ABDA-A630446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导购与售前客服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98417-3460-45C5-B0BD-3A811AE8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76575"/>
            <a:ext cx="48577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顾客难以判断形制与效果</a:t>
            </a:r>
          </a:p>
          <a:p xmlns:a="http://schemas.openxmlformats.org/drawingml/2006/main">
            <a:pPr>
              <a:buNone/>
              <a:def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导购反复查价格、尺码和库存</a:t>
            </a:r>
          </a:p>
          <a:p xmlns:a="http://schemas.openxmlformats.org/drawingml/2006/main">
            <a:pPr>
              <a:buNone/>
              <a:def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咨询记录需要交给商家跟进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8e5877ee74525"/>
          <a:stretch xmlns:a="http://schemas.openxmlformats.org/drawingml/2006/main"/>
        </p:blipFill>
        <p:spPr>
          <a:xfrm xmlns:a="http://schemas.openxmlformats.org/drawingml/2006/main">
            <a:off x="5905500" y="1810919"/>
            <a:ext cx="5695950" cy="27218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0EB3C-9634-445C-9F84-E2F13C7F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019675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顾客端试衣镜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D6C96-7CBA-4ABD-A2B1-6290EBF1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505450"/>
            <a:ext cx="548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上传授权照片，选择想试的衣裳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6807C-3C18-4161-A637-6121CCA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9825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当前阶段：可运行原型，门店需求与收益待验证</a:t>
            </a:r>
          </a:p>
        </p:txBody>
      </p:sp>
    </p:spTree>
    <p:extLst>
      <p:ext uri="{BB962C8B-B14F-4D97-AF65-F5344CB8AC3E}">
        <p14:creationId xmlns:p14="http://schemas.microsoft.com/office/powerpoint/2010/main" val="964606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D70A0-621F-4B3A-8EF0-9BBAAFBA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衣冠志与商品史料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45B14-0189-44B6-BDA5-841AAA5C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25B20-2472-4ACB-962C-FBB7B605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5 个朝代，每朝 4 种形制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ef69a061f444d"/>
          <a:stretch xmlns:a="http://schemas.openxmlformats.org/drawingml/2006/main"/>
        </p:blipFill>
        <p:spPr>
          <a:xfrm xmlns:a="http://schemas.openxmlformats.org/drawingml/2006/main">
            <a:off x="620713" y="1952625"/>
            <a:ext cx="2692400" cy="40386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2a6077d564a45"/>
          <a:stretch xmlns:a="http://schemas.openxmlformats.org/drawingml/2006/main"/>
        </p:blipFill>
        <p:spPr>
          <a:xfrm xmlns:a="http://schemas.openxmlformats.org/drawingml/2006/main">
            <a:off x="3771900" y="1990833"/>
            <a:ext cx="7781925" cy="390503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9A47D-014E-4084-B036-6A0820AB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商品设计参考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A0572-307D-47D1-AE46-EBC2653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0769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史料说明与可查出处</a:t>
            </a:r>
          </a:p>
        </p:txBody>
      </p:sp>
    </p:spTree>
    <p:extLst>
      <p:ext uri="{BB962C8B-B14F-4D97-AF65-F5344CB8AC3E}">
        <p14:creationId xmlns:p14="http://schemas.microsoft.com/office/powerpoint/2010/main" val="1276331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A93CE-2E3F-4B7F-B049-AB05920E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问衣 Agent 与选购确认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058E2-3C26-4802-A9AE-9E7C6657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4FED8-F4C1-475F-8F9B-9FF57A2E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“第一次穿，去芙蓉园，</a:t>
            </a:r>
          </a:p>
          <a:p xmlns:a="http://schemas.openxmlformats.org/drawingml/2006/main">
            <a:pPr>
              <a:buNone/>
              <a:defRPr sz="2475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想要唐制，预算 300 元。”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A4E6D-0868-4348-8357-97CC8C10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71825"/>
            <a:ext cx="5000625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模型读取目录与史料</a:t>
            </a:r>
          </a:p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后端复核具体 SKU 约束</a:t>
            </a:r>
          </a:p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顾客确认后加入衣囊</a:t>
            </a:r>
          </a:p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无匹配时交给商家跟进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27789-E1DB-499F-9E5F-06B4C8A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需求、依据与执行步骤保存到 SQL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06682eff3463c"/>
          <a:stretch xmlns:a="http://schemas.openxmlformats.org/drawingml/2006/main"/>
        </p:blipFill>
        <p:spPr>
          <a:xfrm xmlns:a="http://schemas.openxmlformats.org/drawingml/2006/main">
            <a:off x="6353534" y="1314450"/>
            <a:ext cx="4933232" cy="499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97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51C65-3940-4DA4-9AAA-AA80D441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AI 试衣与结果保存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DF51B-AA45-4D4F-A635-0A914FA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CAD53-D1E7-42DA-9C5D-5BE9704C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图片换装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CE517-1871-49A7-B6D5-6EB01212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5086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上传授权人像与衣服参考图</a:t>
            </a:r>
          </a:p>
          <a:p xmlns:a="http://schemas.openxmlformats.org/drawingml/2006/main">
            <a:pPr>
              <a:buNone/>
              <a:defRPr sz="210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生成后对比原图，保存 PNG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2E603-EDD8-44CC-8DCE-B80E4BC9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4953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3D 环绕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E632E-37CE-4245-A141-B8407931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5124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混元 3D 任务与 GLB 查看已接入</a:t>
            </a:r>
          </a:p>
          <a:p xmlns:a="http://schemas.openxmlformats.org/drawingml/2006/main">
            <a:pPr>
              <a:buNone/>
              <a:defRPr sz="195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支持旋转、切换视角、下载模型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C8904-4D28-4E38-9321-B8A88D0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14975"/>
            <a:ext cx="51149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真实 3D 效果待验收</a:t>
            </a:r>
          </a:p>
          <a:p xmlns:a="http://schemas.openxmlformats.org/drawingml/2006/main">
            <a:pPr>
              <a:buNone/>
              <a:def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侧后方为 AI 推测，不等同实物结构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70ba57957458d"/>
          <a:stretch xmlns:a="http://schemas.openxmlformats.org/drawingml/2006/main"/>
        </p:blipFill>
        <p:spPr>
          <a:xfrm xmlns:a="http://schemas.openxmlformats.org/drawingml/2006/main">
            <a:off x="6310579" y="1352550"/>
            <a:ext cx="4971516" cy="49244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64003-287F-493D-A0A9-60B32D32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324600"/>
            <a:ext cx="519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虚构成年 AI 示例人物，历史换装结果</a:t>
            </a:r>
          </a:p>
        </p:txBody>
      </p:sp>
    </p:spTree>
    <p:extLst>
      <p:ext uri="{BB962C8B-B14F-4D97-AF65-F5344CB8AC3E}">
        <p14:creationId xmlns:p14="http://schemas.microsoft.com/office/powerpoint/2010/main" val="1598775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FAE12-7742-48BF-9123-FAB26902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独立的商家管理后台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16992-2316-4157-828F-18893C3A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68043-15FE-4DE4-A132-A69DFD43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06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商品图片与史料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8170A-C87E-440A-943A-B4A8AFA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SKU 价格与库存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356FE-1CA1-43F4-8819-5F3D4FB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接待、评论与订单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77c8c976b43cf"/>
          <a:stretch xmlns:a="http://schemas.openxmlformats.org/drawingml/2006/main"/>
        </p:blipFill>
        <p:spPr>
          <a:xfrm xmlns:a="http://schemas.openxmlformats.org/drawingml/2006/main">
            <a:off x="1848035" y="2171700"/>
            <a:ext cx="8495930" cy="3771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8E187-AE44-4745-AC69-FA755A13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商城 5173 / 管理端 5174，管理员权限由后端校验</a:t>
            </a:r>
          </a:p>
        </p:txBody>
      </p:sp>
    </p:spTree>
    <p:extLst>
      <p:ext uri="{BB962C8B-B14F-4D97-AF65-F5344CB8AC3E}">
        <p14:creationId xmlns:p14="http://schemas.microsoft.com/office/powerpoint/2010/main" val="1848875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A7E2F-DF82-4756-BC56-DFD4D798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前后端与数据架构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9A1C0-ECE8-45C7-BCDB-6667F5E0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71600"/>
          <a:ext xmlns:a="http://schemas.openxmlformats.org/drawingml/2006/main" cx="10972800" cy="4219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943350"/>
                <a:gridCol w="5076825"/>
              </a:tblGrid>
              <a:tr h="7032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233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</a:t>
                      </a:r>
                    </a:p>
                  </a:txBody>
                  <a:tcPr marL="91440" marR="91440" marT="45720" marB="45720">
                    <a:solidFill>
                      <a:srgbClr val="233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>
                    <a:solidFill>
                      <a:srgbClr val="233936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顾客端与管理端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3 / TypeScript / Vite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商城 5173，后台 5174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前端交互与 3D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Pinia / Axios / Three.js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状态管理、API 请求、GLB 查看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业务后端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 17 / Spring Boot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8082、账号、交易、商家待办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与规则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LangChain4j / SKU 校验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工具调用、原文证据与库存复核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7032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关系数据库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Spring JDBC / H2 / MySQL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账号、商品图片、SKU、史料、接待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67741-DD0B-4F63-A95E-E84EAFAB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关联表保存业务数据，服务端保管密钥与校验权限</a:t>
            </a:r>
          </a:p>
        </p:txBody>
      </p:sp>
    </p:spTree>
    <p:extLst>
      <p:ext uri="{BB962C8B-B14F-4D97-AF65-F5344CB8AC3E}">
        <p14:creationId xmlns:p14="http://schemas.microsoft.com/office/powerpoint/2010/main" val="1242808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B041D-0D27-4E76-A7DC-7F3221FB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模型与 API 调用方式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E6823-ECA4-4B92-B6BB-CE910C61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0400"/>
                <a:gridCol w="3105150"/>
                <a:gridCol w="4667250"/>
              </a:tblGrid>
              <a:tr h="9191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 / 当前配置</a:t>
                      </a:r>
                    </a:p>
                  </a:txBody>
                  <a:tcPr marL="91440" marR="91440" marT="45720" marB="45720">
                    <a:solidFill>
                      <a:srgbClr val="233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2339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后端调用方式</a:t>
                      </a:r>
                    </a:p>
                  </a:txBody>
                  <a:tcPr marL="91440" marR="91440" marT="45720" marB="45720">
                    <a:solidFill>
                      <a:srgbClr val="23393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OpenAI 兼容聊天模型</a:t>
                      </a:r>
                    </a:p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gpt-6.1-sol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理解需求与工具调用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POST /chat/completions</a:t>
                      </a:r>
                    </a:p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Bearer API Key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火山引擎图片换装 V2</a:t>
                      </a:r>
                    </a:p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dressing_diffusionV2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人像与服装图生成试衣效果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CVSubmitTask / CVGetResult</a:t>
                      </a:r>
                    </a:p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AK/SK V4 签名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腾讯混元生 3D Pro</a:t>
                      </a:r>
                    </a:p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模型版本 3.0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换装结果生成 GLB 模型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SubmitHunyuanTo3DProJob</a:t>
                      </a:r>
                    </a:p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QueryHunyuanTo3DProJob</a:t>
                      </a:r>
                    </a:p>
                    <a:p>
                      <a:r>
                        <a:rPr sz="1725" b="0">
                          <a:solidFill>
                            <a:srgbClr val="233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TC3-HMAC-SHA256</a:t>
                      </a:r>
                    </a:p>
                  </a:txBody>
                  <a:tcPr marL="91440" marR="91440" marT="45720" marB="45720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457E1-C9F8-4B4F-82B1-28DE19E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聊天模型通过第三方兼容网关调用，实际型号以服务商为准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5495B-FB6A-4292-B2D3-8B24F46E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721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gpt-image-2 用于开发阶段的商品图素材，非运行时换装 API</a:t>
            </a:r>
          </a:p>
        </p:txBody>
      </p:sp>
    </p:spTree>
    <p:extLst>
      <p:ext uri="{BB962C8B-B14F-4D97-AF65-F5344CB8AC3E}">
        <p14:creationId xmlns:p14="http://schemas.microsoft.com/office/powerpoint/2010/main" val="1407384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D7074-E819-4B74-86C3-04442A9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现场演示与验证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2EEDB-7984-425A-A453-57B36194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68491-679A-4540-AE68-AB0F2536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正常选购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F36C0-D0D3-4132-B3EE-DE7B2F4F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7277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“第一次穿，汉制，预算 500 元，M 码”</a:t>
            </a:r>
          </a:p>
          <a:p xmlns:a="http://schemas.openxmlformats.org/drawingml/2006/main">
            <a:pPr>
              <a:buNone/>
              <a:def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查看候选依据，选规格并确认加购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FF3E0-C128-42E1-B69E-8EC9EA2F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无匹配与商家协助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FA544-DA2F-48BA-A92D-7A051A57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76725"/>
            <a:ext cx="72485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预算改为 1 元，或尺码改为 XXXXL</a:t>
            </a:r>
          </a:p>
          <a:p xmlns:a="http://schemas.openxmlformats.org/drawingml/2006/main">
            <a:pPr>
              <a:buNone/>
              <a:def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查看无匹配结果与商家待办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CB5E2-C021-4F46-A578-ADAB6EAC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478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0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173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09469-76D0-48B3-A51C-83C2A56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2600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55377-205A-4E59-8830-BA7DD27A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D0303-C414-46CC-ABDB-A47DF720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00600"/>
            <a:ext cx="2638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近期真实调用完成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7307B-0F28-42EE-B555-EA7E03B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小样本验证不代表商业效果；交易采用模拟支付</a:t>
            </a:r>
          </a:p>
        </p:txBody>
      </p:sp>
    </p:spTree>
    <p:extLst>
      <p:ext uri="{BB962C8B-B14F-4D97-AF65-F5344CB8AC3E}">
        <p14:creationId xmlns:p14="http://schemas.microsoft.com/office/powerpoint/2010/main" val="16925642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F6619-92E9-4FE5-A092-D2098ADB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云杼队与下一步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181BB-239E-4279-86E7-EFEC4DB1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43877-DFCC-4273-A630-9489AE51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493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孙石祥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DBA73-8F10-4B24-A441-719D8CDC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933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队长</a:t>
            </a:r>
          </a:p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后端、数据库与 AI 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8541D-8D94-4EAB-83FB-C0C3785A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38300"/>
            <a:ext cx="4914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陈博涛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3283B-E47E-4067-8E81-A6BB4A08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19350"/>
            <a:ext cx="49149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前端与管理后台</a:t>
            </a:r>
          </a:p>
          <a:p xmlns:a="http://schemas.openxmlformats.org/drawingml/2006/main">
            <a:pPr>
              <a:buNone/>
              <a:def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行业调研、测试和资料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A4BC0-FF79-402D-8483-927B1D4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2432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A84034"/>
                </a:solidFill>
                <a:latin typeface="Microsoft YaHei"/>
                <a:ea typeface="Microsoft YaHei"/>
                <a:cs typeface="Microsoft YaHei"/>
              </a:rPr>
              <a:t>下一步：门店试点与 3D 实测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9FBF4-5449-4600-AAE5-76520F01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76800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用授权咨询对比处理耗时与约束正确率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2F1A1-FB51-4568-87ED-01A0E4E0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197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github.com/ssx-810118/hanyunjing</a:t>
            </a:r>
          </a:p>
        </p:txBody>
      </p:sp>
    </p:spTree>
    <p:extLst>
      <p:ext uri="{BB962C8B-B14F-4D97-AF65-F5344CB8AC3E}">
        <p14:creationId xmlns:p14="http://schemas.microsoft.com/office/powerpoint/2010/main" val="11018352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31218-477F-4FB0-BBC4-829E552B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0350"/>
            <a:ext cx="876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233936"/>
                </a:solidFill>
                <a:latin typeface="Microsoft YaHei"/>
                <a:ea typeface="Microsoft YaHei"/>
                <a:cs typeface="Microsoft YaHei"/>
              </a:rPr>
              <a:t>感谢观看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33943-CA77-4D21-B41B-BD294E44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6571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996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2026-10-03T18:30:30.9580000Z</dcterms:created>
  <dcterms:modified xsi:type="dcterms:W3CDTF">2026-10-03T18:30:30.9580000Z</dcterms:modified>
</coreProperties>
</file>